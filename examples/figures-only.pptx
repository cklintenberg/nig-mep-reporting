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Weekly active users</c:v>
                </c:pt>
              </c:strCache>
            </c:strRef>
          </c:tx>
          <c:spPr>
            <a:solidFill>
              <a:srgbClr val="7962D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Previous week</c:v>
                  </c:pt>
                  <c:pt idx="1">
                    <c:v>Reporting week</c:v>
                  </c:pt>
                </c:lvl>
              </c:multiLvlStrCache>
            </c:multiLvlStrRef>
          </c:cat>
          <c:val>
            <c:numRef>
              <c:f>Sheet1!$B$2:$B$3</c:f>
              <c:numCache>
                <c:formatCode>General</c:formatCode>
                <c:ptCount val="2"/>
                <c:pt idx="0">
                  <c:v>1000</c:v>
                </c:pt>
                <c:pt idx="1">
                  <c:v>1200</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Platform availability</c:v>
                </c:pt>
              </c:strCache>
            </c:strRef>
          </c:tx>
          <c:spPr>
            <a:solidFill>
              <a:srgbClr val="079C93"/>
            </a:solidFill>
            <a:effectLst/>
          </c:spPr>
          <c:invertIfNegative val="0"/>
          <c:dLbls>
            <c:numFmt formatCode="0.0&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Previous week</c:v>
                  </c:pt>
                  <c:pt idx="1">
                    <c:v>Reporting week</c:v>
                  </c:pt>
                </c:lvl>
              </c:multiLvlStrCache>
            </c:multiLvlStrRef>
          </c:cat>
          <c:val>
            <c:numRef>
              <c:f>Sheet1!$B$2:$B$3</c:f>
              <c:numCache>
                <c:formatCode>General</c:formatCode>
                <c:ptCount val="2"/>
                <c:pt idx="0">
                  <c:v>99.8</c:v>
                </c:pt>
                <c:pt idx="1">
                  <c:v>99.9</c:v>
                </c:pt>
              </c:numCache>
            </c:numRef>
          </c:val>
        </c:ser>
        <c:dLbls>
          <c:numFmt formatCode="0.0&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Analytics delay</c:v>
                </c:pt>
              </c:strCache>
            </c:strRef>
          </c:tx>
          <c:spPr>
            <a:solidFill>
              <a:srgbClr val="D27928"/>
            </a:solidFill>
            <a:effectLst/>
          </c:spPr>
          <c:invertIfNegative val="0"/>
          <c:dLbls>
            <c:numFmt formatCode="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Previous week</c:v>
                  </c:pt>
                  <c:pt idx="1">
                    <c:v>Reporting week</c:v>
                  </c:pt>
                </c:lvl>
              </c:multiLvlStrCache>
            </c:multiLvlStrRef>
          </c:cat>
          <c:val>
            <c:numRef>
              <c:f>Sheet1!$B$2:$B$3</c:f>
              <c:numCache>
                <c:formatCode>General</c:formatCode>
                <c:ptCount val="2"/>
                <c:pt idx="0">
                  <c:v>24</c:v>
                </c:pt>
                <c:pt idx="1">
                  <c:v>36</c:v>
                </c:pt>
              </c:numCache>
            </c:numRef>
          </c:val>
        </c:ser>
        <c:dLbls>
          <c:numFmt formatCode="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API error rate</c:v>
                </c:pt>
              </c:strCache>
            </c:strRef>
          </c:tx>
          <c:spPr>
            <a:solidFill>
              <a:srgbClr val="3676DB"/>
            </a:solidFill>
            <a:effectLst/>
          </c:spPr>
          <c:invertIfNegative val="0"/>
          <c:dLbls>
            <c:numFmt formatCode="0.0&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Previous week</c:v>
                  </c:pt>
                  <c:pt idx="1">
                    <c:v>Reporting week</c:v>
                  </c:pt>
                </c:lvl>
              </c:multiLvlStrCache>
            </c:multiLvlStrRef>
          </c:cat>
          <c:val>
            <c:numRef>
              <c:f>Sheet1!$B$2:$B$3</c:f>
              <c:numCache>
                <c:formatCode>General</c:formatCode>
                <c:ptCount val="2"/>
                <c:pt idx="0">
                  <c:v>0.4</c:v>
                </c:pt>
                <c:pt idx="1">
                  <c:v>0.3</c:v>
                </c:pt>
              </c:numCache>
            </c:numRef>
          </c:val>
        </c:ser>
        <c:dLbls>
          <c:numFmt formatCode="0.0&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Engineering report. Input fingerprint: 6290ea086a250d53ce803598735e03ba16f5f6c542b55240aff2e4e422ca3128. Content reused without additional AI interpretation.
Review before use or sharing. Downloading is not approval. No automatic sending or task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"key": "weekly_active_users",
    "label": "Weekly active users",
    "unit": "users",
    "previous": 1000,
    "current": 1200,
    "delta": 20,
    "delta_kind": "relative %",
    "previous_period": "2026-09-21",
    "current_period": "2026-09-28",
    "cohort": "MEP beta matched cohort",
    "source_rows": [
      2,
      3
    ]
  },
  {
    "key": "availability",
    "label": "Platform availability",
    "unit": "%",
    "previous": 99.8,
    "current": 99.9,
    "delta": 0.1,
    "delta_kind": "percentage points",
    "previous_period": "2026-09-21",
    "current_period": "2026-09-28",
    "cohort": "MEP beta matched cohort",
    "source_rows": [
      4,
      5
    ]
  },
  {
    "key": "analytics_freshness",
    "label": "Analytics delay",
    "unit": "hours",
    "previous": 24,
    "current": 36,
    "delta": 12,
    "delta_kind": "hours",
    "previous_period": "2026-09-21",
    "current_period": "2026-09-28",
    "cohort": "MEP beta matched cohort",
    "source_rows": [
      6,
      7
    ]
  },
  {
    "key": "api_error_rate",
    "label": "API error rate",
    "unit": "%",
    "previous": 0.4,
    "current": 0.3,
    "delta": -0.1,
    "delta_kind": "percentage points",
    "previous_period": "2026-09-21",
    "current_period": "2026-09-28",
    "cohort": "MEP beta matched cohort",
    "source_rows": [
      8,
      9
    ]
  }
]
Review before use or sharing. Downloading is not approval. No automatic sending or task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reuse validated values. Missing periods are omitted, never replaced with zero. All axes start at zero.
Review before use or sharing. Downloading is not approval. No automatic sending or task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reuse validated values. Missing periods are omitted, never replaced with zero. All axes start at zero.
Review before use or sharing. Downloading is not approval. No automatic sending or task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"key": "weekly_active_users",
    "label": "Weekly active users",
    "unit": "users",
    "previous": 1000,
    "current": 1200,
    "delta": 20,
    "delta_kind": "relative %",
    "previous_period": "2026-09-21",
    "current_period": "2026-09-28",
    "cohort": "MEP beta matched cohort",
    "source_rows": [
      2,
      3
    ]
  },
  {
    "key": "availability",
    "label": "Platform availability",
    "unit": "%",
    "previous": 99.8,
    "current": 99.9,
    "delta": 0.1,
    "delta_kind": "percentage points",
    "previous_period": "2026-09-21",
    "current_period": "2026-09-28",
    "cohort": "MEP beta matched cohort",
    "source_rows": [
      4,
      5
    ]
  },
  {
    "key": "analytics_freshness",
    "label": "Analytics delay",
    "unit": "hours",
    "previous": 24,
    "current": 36,
    "delta": 12,
    "delta_kind": "hours",
    "previous_period": "2026-09-21",
    "current_period": "2026-09-28",
    "cohort": "MEP beta matched cohort",
    "source_rows": [
      6,
      7
    ]
  },
  {
    "key": "api_error_rate",
    "label": "API error rate",
    "unit": "%",
    "previous": 0.4,
    "current": 0.3,
    "delta": -0.1,
    "delta_kind": "percentage points",
    "previous_period": "2026-09-21",
    "current_period": "2026-09-28",
    "cohort": "MEP beta matched cohort",
    "source_rows": [
      8,
      9
    ]
  }
]
Review before use or sharing. Downloading is not approval. No automatic sending or task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"severity": "warning",
    "code": "no_notes",
    "message": "No meeting material supplied. This report contains calculated figures only; reasons and commitments are unknown."
  }
]
Review before use or sharing. Downloading is not approval. No automatic sending or task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43"/>
        </a:solidFill>
      </p:bgPr>
    </p:bg>
    <p:spTree>
      <p:nvGrpSpPr>
        <p:cNvPr id="1" name=""/>
        <p:cNvGrpSpPr/>
        <p:nvPr/>
      </p:nvGrpSpPr>
      <p:grpSpPr>
        <a:xfrm>
          <a:off x="0" y="0"/>
          <a:ext cx="0" cy="0"/>
          <a:chOff x="0" y="0"/>
          <a:chExt cx="0" cy="0"/>
        </a:xfrm>
      </p:grpSpPr>
      <p:sp>
        <p:nvSpPr>
          <p:cNvPr id="2" name="Text 0"/>
          <p:cNvSpPr/>
          <p:nvPr/>
        </p:nvSpPr>
        <p:spPr>
          <a:xfrm>
            <a:off x="594360" y="502920"/>
            <a:ext cx="10972800" cy="91440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Weekly Engineering review</a:t>
            </a:r>
            <a:endParaRPr lang="en-US" sz="3400" dirty="0"/>
          </a:p>
        </p:txBody>
      </p:sp>
      <p:sp>
        <p:nvSpPr>
          <p:cNvPr id="3" name="Text 1"/>
          <p:cNvSpPr/>
          <p:nvPr/>
        </p:nvSpPr>
        <p:spPr>
          <a:xfrm>
            <a:off x="594360" y="1508760"/>
            <a:ext cx="10972800" cy="640080"/>
          </a:xfrm>
          <a:prstGeom prst="rect">
            <a:avLst/>
          </a:prstGeom>
          <a:noFill/>
          <a:ln/>
        </p:spPr>
        <p:txBody>
          <a:bodyPr wrap="square" lIns="0" tIns="0" rIns="0" bIns="0" rtlCol="0" anchor="t">
            <a:normAutofit/>
          </a:bodyPr>
          <a:lstStyle/>
          <a:p>
            <a:pPr indent="0" marL="0">
              <a:buNone/>
            </a:pPr>
            <a:r>
              <a:rPr lang="en-US" sz="1700" dirty="0">
                <a:solidFill>
                  <a:srgbClr val="B6C3E0"/>
                </a:solidFill>
                <a:latin typeface="Arial" pitchFamily="34" charset="0"/>
                <a:ea typeface="Arial" pitchFamily="34" charset="-122"/>
                <a:cs typeface="Arial" pitchFamily="34" charset="-120"/>
              </a:rPr>
              <a:t>Week of 2026-09-28</a:t>
            </a:r>
            <a:endParaRPr lang="en-US" sz="1700" dirty="0"/>
          </a:p>
        </p:txBody>
      </p:sp>
      <p:sp>
        <p:nvSpPr>
          <p:cNvPr id="4" name="Text 2"/>
          <p:cNvSpPr/>
          <p:nvPr/>
        </p:nvSpPr>
        <p:spPr>
          <a:xfrm>
            <a:off x="594360" y="6446520"/>
            <a:ext cx="10332720" cy="210312"/>
          </a:xfrm>
          <a:prstGeom prst="rect">
            <a:avLst/>
          </a:prstGeom>
          <a:noFill/>
          <a:ln/>
        </p:spPr>
        <p:txBody>
          <a:bodyPr wrap="square" lIns="0" tIns="0" rIns="0" bIns="0" rtlCol="0" anchor="t">
            <a:normAutofit/>
          </a:bodyPr>
          <a:lstStyle/>
          <a:p>
            <a:pPr indent="0" marL="0">
              <a:buNone/>
            </a:pPr>
            <a:r>
              <a:rPr lang="en-US" sz="1000" dirty="0">
                <a:solidFill>
                  <a:srgbClr val="B6C3E0"/>
                </a:solidFill>
                <a:latin typeface="Arial" pitchFamily="34" charset="0"/>
                <a:ea typeface="Arial" pitchFamily="34" charset="-122"/>
                <a:cs typeface="Arial" pitchFamily="34" charset="-120"/>
              </a:rPr>
              <a:t>NIG / MEP · Internal preparation · 2026-09-28</a:t>
            </a:r>
            <a:endParaRPr lang="en-US" sz="1000" dirty="0"/>
          </a:p>
        </p:txBody>
      </p:sp>
      <p:sp>
        <p:nvSpPr>
          <p:cNvPr id="5" name="Text 3"/>
          <p:cNvSpPr/>
          <p:nvPr/>
        </p:nvSpPr>
        <p:spPr>
          <a:xfrm>
            <a:off x="11064240" y="6446520"/>
            <a:ext cx="502920" cy="210312"/>
          </a:xfrm>
          <a:prstGeom prst="rect">
            <a:avLst/>
          </a:prstGeom>
          <a:noFill/>
          <a:ln/>
        </p:spPr>
        <p:txBody>
          <a:bodyPr wrap="square" lIns="0" tIns="0" rIns="0" bIns="0" rtlCol="0" anchor="t">
            <a:normAutofit/>
          </a:bodyPr>
          <a:lstStyle/>
          <a:p>
            <a:pPr indent="0" marL="0">
              <a:buNone/>
            </a:pPr>
            <a:r>
              <a:rPr lang="en-US" sz="1000" dirty="0">
                <a:solidFill>
                  <a:srgbClr val="B6C3E0"/>
                </a:solidFill>
                <a:latin typeface="Arial" pitchFamily="34" charset="0"/>
                <a:ea typeface="Arial" pitchFamily="34" charset="-122"/>
                <a:cs typeface="Arial" pitchFamily="34" charset="-120"/>
              </a:rPr>
              <a:t>01</a:t>
            </a:r>
            <a:endParaRPr lang="en-US" sz="1000" dirty="0"/>
          </a:p>
        </p:txBody>
      </p:sp>
      <p:sp>
        <p:nvSpPr>
          <p:cNvPr id="6" name="Text 4"/>
          <p:cNvSpPr/>
          <p:nvPr/>
        </p:nvSpPr>
        <p:spPr>
          <a:xfrm>
            <a:off x="594360" y="2560320"/>
            <a:ext cx="10789920" cy="1188720"/>
          </a:xfrm>
          <a:prstGeom prst="rect">
            <a:avLst/>
          </a:prstGeom>
          <a:noFill/>
          <a:ln/>
        </p:spPr>
        <p:txBody>
          <a:bodyPr wrap="square" lIns="0" tIns="0" rIns="0" bIns="0" rtlCol="0" anchor="t">
            <a:normAutofit/>
          </a:bodyPr>
          <a:lstStyle/>
          <a:p>
            <a:pPr indent="0" marL="0">
              <a:buNone/>
            </a:pPr>
            <a:r>
              <a:rPr lang="en-US" sz="4200" b="1" dirty="0">
                <a:solidFill>
                  <a:srgbClr val="FFFFFF"/>
                </a:solidFill>
                <a:latin typeface="Arial" pitchFamily="34" charset="0"/>
                <a:ea typeface="Arial" pitchFamily="34" charset="-122"/>
                <a:cs typeface="Arial" pitchFamily="34" charset="-120"/>
              </a:rPr>
              <a:t>A shared view for the next conversation</a:t>
            </a:r>
            <a:endParaRPr lang="en-US" sz="4200" dirty="0"/>
          </a:p>
        </p:txBody>
      </p:sp>
      <p:sp>
        <p:nvSpPr>
          <p:cNvPr id="7" name="Text 5"/>
          <p:cNvSpPr/>
          <p:nvPr/>
        </p:nvSpPr>
        <p:spPr>
          <a:xfrm>
            <a:off x="594360" y="4114800"/>
            <a:ext cx="10972800" cy="457200"/>
          </a:xfrm>
          <a:prstGeom prst="rect">
            <a:avLst/>
          </a:prstGeom>
          <a:noFill/>
          <a:ln/>
        </p:spPr>
        <p:txBody>
          <a:bodyPr wrap="square" lIns="0" tIns="0" rIns="0" bIns="0" rtlCol="0" anchor="t">
            <a:normAutofit/>
          </a:bodyPr>
          <a:lstStyle/>
          <a:p>
            <a:pPr indent="0" marL="0">
              <a:buNone/>
            </a:pPr>
            <a:r>
              <a:rPr lang="en-US" sz="2400" dirty="0">
                <a:solidFill>
                  <a:srgbClr val="A3E635"/>
                </a:solidFill>
                <a:latin typeface="Arial" pitchFamily="34" charset="0"/>
                <a:ea typeface="Arial" pitchFamily="34" charset="-122"/>
                <a:cs typeface="Arial" pitchFamily="34" charset="-120"/>
              </a:rPr>
              <a:t>Platform figures</a:t>
            </a:r>
            <a:endParaRPr lang="en-US" sz="2400" dirty="0"/>
          </a:p>
        </p:txBody>
      </p:sp>
      <p:sp>
        <p:nvSpPr>
          <p:cNvPr id="8" name="Text 6"/>
          <p:cNvSpPr/>
          <p:nvPr/>
        </p:nvSpPr>
        <p:spPr>
          <a:xfrm>
            <a:off x="594360" y="5029200"/>
            <a:ext cx="10972800" cy="457200"/>
          </a:xfrm>
          <a:prstGeom prst="rect">
            <a:avLst/>
          </a:prstGeom>
          <a:noFill/>
          <a:ln/>
        </p:spPr>
        <p:txBody>
          <a:bodyPr wrap="square" lIns="0" tIns="0" rIns="0" bIns="0" rtlCol="0" anchor="t">
            <a:normAutofit/>
          </a:bodyPr>
          <a:lstStyle/>
          <a:p>
            <a:pPr indent="0" marL="0">
              <a:buNone/>
            </a:pPr>
            <a:r>
              <a:rPr lang="en-US" sz="2200" dirty="0">
                <a:solidFill>
                  <a:srgbClr val="FFFFFF"/>
                </a:solidFill>
                <a:latin typeface="Arial" pitchFamily="34" charset="0"/>
                <a:ea typeface="Arial" pitchFamily="34" charset="-122"/>
                <a:cs typeface="Arial" pitchFamily="34" charset="-120"/>
              </a:rPr>
              <a:t>Prepared for your meeting</a:t>
            </a:r>
            <a:endParaRPr lang="en-US" sz="2200" dirty="0"/>
          </a:p>
        </p:txBody>
      </p:sp>
      <p:sp>
        <p:nvSpPr>
          <p:cNvPr id="9" name="Text 7"/>
          <p:cNvSpPr/>
          <p:nvPr/>
        </p:nvSpPr>
        <p:spPr>
          <a:xfrm>
            <a:off x="594360" y="5623560"/>
            <a:ext cx="10972800" cy="548640"/>
          </a:xfrm>
          <a:prstGeom prst="rect">
            <a:avLst/>
          </a:prstGeom>
          <a:noFill/>
          <a:ln/>
        </p:spPr>
        <p:txBody>
          <a:bodyPr wrap="square" lIns="0" tIns="0" rIns="0" bIns="0" rtlCol="0" anchor="t">
            <a:normAutofit/>
          </a:bodyPr>
          <a:lstStyle/>
          <a:p>
            <a:pPr indent="0" marL="0">
              <a:buNone/>
            </a:pPr>
            <a:r>
              <a:rPr lang="en-US" sz="1700" dirty="0">
                <a:solidFill>
                  <a:srgbClr val="B6C3E0"/>
                </a:solidFill>
                <a:latin typeface="Arial" pitchFamily="34" charset="0"/>
                <a:ea typeface="Arial" pitchFamily="34" charset="-122"/>
                <a:cs typeface="Arial" pitchFamily="34" charset="-120"/>
              </a:rPr>
              <a:t>Internal BD preparation. Check the recipient and sensitive content before sharing.</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02920"/>
            <a:ext cx="10972800" cy="914400"/>
          </a:xfrm>
          <a:prstGeom prst="rect">
            <a:avLst/>
          </a:prstGeom>
          <a:noFill/>
          <a:ln/>
        </p:spPr>
        <p:txBody>
          <a:bodyPr wrap="square" lIns="0" tIns="0" rIns="0" bIns="0" rtlCol="0" anchor="t">
            <a:normAutofit/>
          </a:bodyPr>
          <a:lstStyle/>
          <a:p>
            <a:pPr indent="0" marL="0">
              <a:buNone/>
            </a:pPr>
            <a:r>
              <a:rPr lang="en-US" sz="3400" b="1" dirty="0">
                <a:solidFill>
                  <a:srgbClr val="18213D"/>
                </a:solidFill>
                <a:latin typeface="Arial" pitchFamily="34" charset="0"/>
                <a:ea typeface="Arial" pitchFamily="34" charset="-122"/>
                <a:cs typeface="Arial" pitchFamily="34" charset="-120"/>
              </a:rPr>
              <a:t>Platform signals</a:t>
            </a:r>
            <a:endParaRPr lang="en-US" sz="3400" dirty="0"/>
          </a:p>
        </p:txBody>
      </p:sp>
      <p:sp>
        <p:nvSpPr>
          <p:cNvPr id="3" name="Text 1"/>
          <p:cNvSpPr/>
          <p:nvPr/>
        </p:nvSpPr>
        <p:spPr>
          <a:xfrm>
            <a:off x="594360" y="1508760"/>
            <a:ext cx="10972800" cy="64008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Current reporting week. Changes compare the same cohort with the previous week.</a:t>
            </a:r>
            <a:endParaRPr lang="en-US" sz="1700" dirty="0"/>
          </a:p>
        </p:txBody>
      </p:sp>
      <p:sp>
        <p:nvSpPr>
          <p:cNvPr id="4" name="Text 2"/>
          <p:cNvSpPr/>
          <p:nvPr/>
        </p:nvSpPr>
        <p:spPr>
          <a:xfrm>
            <a:off x="594360" y="6446520"/>
            <a:ext cx="103327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NIG / MEP · Internal preparation · 2026-09-28</a:t>
            </a:r>
            <a:endParaRPr lang="en-US" sz="1000" dirty="0"/>
          </a:p>
        </p:txBody>
      </p:sp>
      <p:sp>
        <p:nvSpPr>
          <p:cNvPr id="5" name="Text 3"/>
          <p:cNvSpPr/>
          <p:nvPr/>
        </p:nvSpPr>
        <p:spPr>
          <a:xfrm>
            <a:off x="11064240" y="6446520"/>
            <a:ext cx="5029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02</a:t>
            </a:r>
            <a:endParaRPr lang="en-US" sz="1000" dirty="0"/>
          </a:p>
        </p:txBody>
      </p:sp>
      <p:sp>
        <p:nvSpPr>
          <p:cNvPr id="6" name="Text 4"/>
          <p:cNvSpPr/>
          <p:nvPr/>
        </p:nvSpPr>
        <p:spPr>
          <a:xfrm>
            <a:off x="594360" y="2468880"/>
            <a:ext cx="5029200" cy="365760"/>
          </a:xfrm>
          <a:prstGeom prst="rect">
            <a:avLst/>
          </a:prstGeom>
          <a:noFill/>
          <a:ln/>
        </p:spPr>
        <p:txBody>
          <a:bodyPr wrap="square" lIns="0" tIns="0" rIns="0" bIns="0" rtlCol="0" anchor="t">
            <a:normAutofit/>
          </a:bodyPr>
          <a:lstStyle/>
          <a:p>
            <a:pPr indent="0" marL="0">
              <a:buNone/>
            </a:pPr>
            <a:r>
              <a:rPr lang="en-US" sz="2000" dirty="0">
                <a:solidFill>
                  <a:srgbClr val="59647C"/>
                </a:solidFill>
                <a:latin typeface="Arial" pitchFamily="34" charset="0"/>
                <a:ea typeface="Arial" pitchFamily="34" charset="-122"/>
                <a:cs typeface="Arial" pitchFamily="34" charset="-120"/>
              </a:rPr>
              <a:t>Weekly active users</a:t>
            </a:r>
            <a:endParaRPr lang="en-US" sz="2000" dirty="0"/>
          </a:p>
        </p:txBody>
      </p:sp>
      <p:sp>
        <p:nvSpPr>
          <p:cNvPr id="7" name="Text 5"/>
          <p:cNvSpPr/>
          <p:nvPr/>
        </p:nvSpPr>
        <p:spPr>
          <a:xfrm>
            <a:off x="594360" y="2880360"/>
            <a:ext cx="5029200" cy="640080"/>
          </a:xfrm>
          <a:prstGeom prst="rect">
            <a:avLst/>
          </a:prstGeom>
          <a:noFill/>
          <a:ln/>
        </p:spPr>
        <p:txBody>
          <a:bodyPr wrap="square" lIns="0" tIns="0" rIns="0" bIns="0" rtlCol="0" anchor="t">
            <a:normAutofit/>
          </a:bodyPr>
          <a:lstStyle/>
          <a:p>
            <a:pPr indent="0" marL="0">
              <a:buNone/>
            </a:pPr>
            <a:r>
              <a:rPr lang="en-US" sz="4200" b="1" dirty="0">
                <a:solidFill>
                  <a:srgbClr val="7962D7"/>
                </a:solidFill>
                <a:latin typeface="Arial" pitchFamily="34" charset="0"/>
                <a:ea typeface="Arial" pitchFamily="34" charset="-122"/>
                <a:cs typeface="Arial" pitchFamily="34" charset="-120"/>
              </a:rPr>
              <a:t>1,200</a:t>
            </a:r>
            <a:endParaRPr lang="en-US" sz="4200" dirty="0"/>
          </a:p>
        </p:txBody>
      </p:sp>
      <p:sp>
        <p:nvSpPr>
          <p:cNvPr id="8" name="Text 6"/>
          <p:cNvSpPr/>
          <p:nvPr/>
        </p:nvSpPr>
        <p:spPr>
          <a:xfrm>
            <a:off x="594360" y="3566160"/>
            <a:ext cx="5029200" cy="457200"/>
          </a:xfrm>
          <a:prstGeom prst="rect">
            <a:avLst/>
          </a:prstGeom>
          <a:noFill/>
          <a:ln/>
        </p:spPr>
        <p:txBody>
          <a:bodyPr wrap="square" lIns="0" tIns="0" rIns="0" bIns="0" rtlCol="0" anchor="t">
            <a:normAutofit/>
          </a:bodyPr>
          <a:lstStyle/>
          <a:p>
            <a:pPr indent="0" marL="0">
              <a:buNone/>
            </a:pPr>
            <a:r>
              <a:rPr lang="en-US" sz="1700" dirty="0">
                <a:solidFill>
                  <a:srgbClr val="18213D"/>
                </a:solidFill>
                <a:latin typeface="Arial" pitchFamily="34" charset="0"/>
                <a:ea typeface="Arial" pitchFamily="34" charset="-122"/>
                <a:cs typeface="Arial" pitchFamily="34" charset="-120"/>
              </a:rPr>
              <a:t>users · +20% vs previous week</a:t>
            </a:r>
            <a:endParaRPr lang="en-US" sz="1700" dirty="0"/>
          </a:p>
        </p:txBody>
      </p:sp>
      <p:sp>
        <p:nvSpPr>
          <p:cNvPr id="9" name="Text 7"/>
          <p:cNvSpPr/>
          <p:nvPr/>
        </p:nvSpPr>
        <p:spPr>
          <a:xfrm>
            <a:off x="6172200" y="2468880"/>
            <a:ext cx="5029200" cy="365760"/>
          </a:xfrm>
          <a:prstGeom prst="rect">
            <a:avLst/>
          </a:prstGeom>
          <a:noFill/>
          <a:ln/>
        </p:spPr>
        <p:txBody>
          <a:bodyPr wrap="square" lIns="0" tIns="0" rIns="0" bIns="0" rtlCol="0" anchor="t">
            <a:normAutofit/>
          </a:bodyPr>
          <a:lstStyle/>
          <a:p>
            <a:pPr indent="0" marL="0">
              <a:buNone/>
            </a:pPr>
            <a:r>
              <a:rPr lang="en-US" sz="2000" dirty="0">
                <a:solidFill>
                  <a:srgbClr val="59647C"/>
                </a:solidFill>
                <a:latin typeface="Arial" pitchFamily="34" charset="0"/>
                <a:ea typeface="Arial" pitchFamily="34" charset="-122"/>
                <a:cs typeface="Arial" pitchFamily="34" charset="-120"/>
              </a:rPr>
              <a:t>Platform availability</a:t>
            </a:r>
            <a:endParaRPr lang="en-US" sz="2000" dirty="0"/>
          </a:p>
        </p:txBody>
      </p:sp>
      <p:sp>
        <p:nvSpPr>
          <p:cNvPr id="10" name="Text 8"/>
          <p:cNvSpPr/>
          <p:nvPr/>
        </p:nvSpPr>
        <p:spPr>
          <a:xfrm>
            <a:off x="6172200" y="2880360"/>
            <a:ext cx="5029200" cy="640080"/>
          </a:xfrm>
          <a:prstGeom prst="rect">
            <a:avLst/>
          </a:prstGeom>
          <a:noFill/>
          <a:ln/>
        </p:spPr>
        <p:txBody>
          <a:bodyPr wrap="square" lIns="0" tIns="0" rIns="0" bIns="0" rtlCol="0" anchor="t">
            <a:normAutofit/>
          </a:bodyPr>
          <a:lstStyle/>
          <a:p>
            <a:pPr indent="0" marL="0">
              <a:buNone/>
            </a:pPr>
            <a:r>
              <a:rPr lang="en-US" sz="4200" b="1" dirty="0">
                <a:solidFill>
                  <a:srgbClr val="079C93"/>
                </a:solidFill>
                <a:latin typeface="Arial" pitchFamily="34" charset="0"/>
                <a:ea typeface="Arial" pitchFamily="34" charset="-122"/>
                <a:cs typeface="Arial" pitchFamily="34" charset="-120"/>
              </a:rPr>
              <a:t>99.9%</a:t>
            </a:r>
            <a:endParaRPr lang="en-US" sz="4200" dirty="0"/>
          </a:p>
        </p:txBody>
      </p:sp>
      <p:sp>
        <p:nvSpPr>
          <p:cNvPr id="11" name="Text 9"/>
          <p:cNvSpPr/>
          <p:nvPr/>
        </p:nvSpPr>
        <p:spPr>
          <a:xfrm>
            <a:off x="6172200" y="3566160"/>
            <a:ext cx="5029200" cy="457200"/>
          </a:xfrm>
          <a:prstGeom prst="rect">
            <a:avLst/>
          </a:prstGeom>
          <a:noFill/>
          <a:ln/>
        </p:spPr>
        <p:txBody>
          <a:bodyPr wrap="square" lIns="0" tIns="0" rIns="0" bIns="0" rtlCol="0" anchor="t">
            <a:normAutofit/>
          </a:bodyPr>
          <a:lstStyle/>
          <a:p>
            <a:pPr indent="0" marL="0">
              <a:buNone/>
            </a:pPr>
            <a:r>
              <a:rPr lang="en-US" sz="1700" dirty="0">
                <a:solidFill>
                  <a:srgbClr val="18213D"/>
                </a:solidFill>
                <a:latin typeface="Arial" pitchFamily="34" charset="0"/>
                <a:ea typeface="Arial" pitchFamily="34" charset="-122"/>
                <a:cs typeface="Arial" pitchFamily="34" charset="-120"/>
              </a:rPr>
              <a:t>+0.1 percentage points</a:t>
            </a:r>
            <a:endParaRPr lang="en-US" sz="1700" dirty="0"/>
          </a:p>
        </p:txBody>
      </p:sp>
      <p:sp>
        <p:nvSpPr>
          <p:cNvPr id="12" name="Text 10"/>
          <p:cNvSpPr/>
          <p:nvPr/>
        </p:nvSpPr>
        <p:spPr>
          <a:xfrm>
            <a:off x="594360" y="4160520"/>
            <a:ext cx="5029200" cy="365760"/>
          </a:xfrm>
          <a:prstGeom prst="rect">
            <a:avLst/>
          </a:prstGeom>
          <a:noFill/>
          <a:ln/>
        </p:spPr>
        <p:txBody>
          <a:bodyPr wrap="square" lIns="0" tIns="0" rIns="0" bIns="0" rtlCol="0" anchor="t">
            <a:normAutofit/>
          </a:bodyPr>
          <a:lstStyle/>
          <a:p>
            <a:pPr indent="0" marL="0">
              <a:buNone/>
            </a:pPr>
            <a:r>
              <a:rPr lang="en-US" sz="2000" dirty="0">
                <a:solidFill>
                  <a:srgbClr val="59647C"/>
                </a:solidFill>
                <a:latin typeface="Arial" pitchFamily="34" charset="0"/>
                <a:ea typeface="Arial" pitchFamily="34" charset="-122"/>
                <a:cs typeface="Arial" pitchFamily="34" charset="-120"/>
              </a:rPr>
              <a:t>Analytics delay</a:t>
            </a:r>
            <a:endParaRPr lang="en-US" sz="2000" dirty="0"/>
          </a:p>
        </p:txBody>
      </p:sp>
      <p:sp>
        <p:nvSpPr>
          <p:cNvPr id="13" name="Text 11"/>
          <p:cNvSpPr/>
          <p:nvPr/>
        </p:nvSpPr>
        <p:spPr>
          <a:xfrm>
            <a:off x="594360" y="4572000"/>
            <a:ext cx="5029200" cy="640080"/>
          </a:xfrm>
          <a:prstGeom prst="rect">
            <a:avLst/>
          </a:prstGeom>
          <a:noFill/>
          <a:ln/>
        </p:spPr>
        <p:txBody>
          <a:bodyPr wrap="square" lIns="0" tIns="0" rIns="0" bIns="0" rtlCol="0" anchor="t">
            <a:normAutofit/>
          </a:bodyPr>
          <a:lstStyle/>
          <a:p>
            <a:pPr indent="0" marL="0">
              <a:buNone/>
            </a:pPr>
            <a:r>
              <a:rPr lang="en-US" sz="4200" b="1" dirty="0">
                <a:solidFill>
                  <a:srgbClr val="D27928"/>
                </a:solidFill>
                <a:latin typeface="Arial" pitchFamily="34" charset="0"/>
                <a:ea typeface="Arial" pitchFamily="34" charset="-122"/>
                <a:cs typeface="Arial" pitchFamily="34" charset="-120"/>
              </a:rPr>
              <a:t>36</a:t>
            </a:r>
            <a:endParaRPr lang="en-US" sz="4200" dirty="0"/>
          </a:p>
        </p:txBody>
      </p:sp>
      <p:sp>
        <p:nvSpPr>
          <p:cNvPr id="14" name="Text 12"/>
          <p:cNvSpPr/>
          <p:nvPr/>
        </p:nvSpPr>
        <p:spPr>
          <a:xfrm>
            <a:off x="594360" y="5257800"/>
            <a:ext cx="5029200" cy="457200"/>
          </a:xfrm>
          <a:prstGeom prst="rect">
            <a:avLst/>
          </a:prstGeom>
          <a:noFill/>
          <a:ln/>
        </p:spPr>
        <p:txBody>
          <a:bodyPr wrap="square" lIns="0" tIns="0" rIns="0" bIns="0" rtlCol="0" anchor="t">
            <a:normAutofit/>
          </a:bodyPr>
          <a:lstStyle/>
          <a:p>
            <a:pPr indent="0" marL="0">
              <a:buNone/>
            </a:pPr>
            <a:r>
              <a:rPr lang="en-US" sz="1700" dirty="0">
                <a:solidFill>
                  <a:srgbClr val="18213D"/>
                </a:solidFill>
                <a:latin typeface="Arial" pitchFamily="34" charset="0"/>
                <a:ea typeface="Arial" pitchFamily="34" charset="-122"/>
                <a:cs typeface="Arial" pitchFamily="34" charset="-120"/>
              </a:rPr>
              <a:t>hours · +12 hours</a:t>
            </a:r>
            <a:endParaRPr lang="en-US" sz="1700" dirty="0"/>
          </a:p>
        </p:txBody>
      </p:sp>
      <p:sp>
        <p:nvSpPr>
          <p:cNvPr id="15" name="Text 13"/>
          <p:cNvSpPr/>
          <p:nvPr/>
        </p:nvSpPr>
        <p:spPr>
          <a:xfrm>
            <a:off x="6172200" y="4160520"/>
            <a:ext cx="5029200" cy="365760"/>
          </a:xfrm>
          <a:prstGeom prst="rect">
            <a:avLst/>
          </a:prstGeom>
          <a:noFill/>
          <a:ln/>
        </p:spPr>
        <p:txBody>
          <a:bodyPr wrap="square" lIns="0" tIns="0" rIns="0" bIns="0" rtlCol="0" anchor="t">
            <a:normAutofit/>
          </a:bodyPr>
          <a:lstStyle/>
          <a:p>
            <a:pPr indent="0" marL="0">
              <a:buNone/>
            </a:pPr>
            <a:r>
              <a:rPr lang="en-US" sz="2000" dirty="0">
                <a:solidFill>
                  <a:srgbClr val="59647C"/>
                </a:solidFill>
                <a:latin typeface="Arial" pitchFamily="34" charset="0"/>
                <a:ea typeface="Arial" pitchFamily="34" charset="-122"/>
                <a:cs typeface="Arial" pitchFamily="34" charset="-120"/>
              </a:rPr>
              <a:t>API error rate</a:t>
            </a:r>
            <a:endParaRPr lang="en-US" sz="2000" dirty="0"/>
          </a:p>
        </p:txBody>
      </p:sp>
      <p:sp>
        <p:nvSpPr>
          <p:cNvPr id="16" name="Text 14"/>
          <p:cNvSpPr/>
          <p:nvPr/>
        </p:nvSpPr>
        <p:spPr>
          <a:xfrm>
            <a:off x="6172200" y="4572000"/>
            <a:ext cx="5029200" cy="640080"/>
          </a:xfrm>
          <a:prstGeom prst="rect">
            <a:avLst/>
          </a:prstGeom>
          <a:noFill/>
          <a:ln/>
        </p:spPr>
        <p:txBody>
          <a:bodyPr wrap="square" lIns="0" tIns="0" rIns="0" bIns="0" rtlCol="0" anchor="t">
            <a:normAutofit/>
          </a:bodyPr>
          <a:lstStyle/>
          <a:p>
            <a:pPr indent="0" marL="0">
              <a:buNone/>
            </a:pPr>
            <a:r>
              <a:rPr lang="en-US" sz="4200" b="1" dirty="0">
                <a:solidFill>
                  <a:srgbClr val="3676DB"/>
                </a:solidFill>
                <a:latin typeface="Arial" pitchFamily="34" charset="0"/>
                <a:ea typeface="Arial" pitchFamily="34" charset="-122"/>
                <a:cs typeface="Arial" pitchFamily="34" charset="-120"/>
              </a:rPr>
              <a:t>0.3%</a:t>
            </a:r>
            <a:endParaRPr lang="en-US" sz="4200" dirty="0"/>
          </a:p>
        </p:txBody>
      </p:sp>
      <p:sp>
        <p:nvSpPr>
          <p:cNvPr id="17" name="Text 15"/>
          <p:cNvSpPr/>
          <p:nvPr/>
        </p:nvSpPr>
        <p:spPr>
          <a:xfrm>
            <a:off x="6172200" y="5257800"/>
            <a:ext cx="5029200" cy="457200"/>
          </a:xfrm>
          <a:prstGeom prst="rect">
            <a:avLst/>
          </a:prstGeom>
          <a:noFill/>
          <a:ln/>
        </p:spPr>
        <p:txBody>
          <a:bodyPr wrap="square" lIns="0" tIns="0" rIns="0" bIns="0" rtlCol="0" anchor="t">
            <a:normAutofit/>
          </a:bodyPr>
          <a:lstStyle/>
          <a:p>
            <a:pPr indent="0" marL="0">
              <a:buNone/>
            </a:pPr>
            <a:r>
              <a:rPr lang="en-US" sz="1700" dirty="0">
                <a:solidFill>
                  <a:srgbClr val="18213D"/>
                </a:solidFill>
                <a:latin typeface="Arial" pitchFamily="34" charset="0"/>
                <a:ea typeface="Arial" pitchFamily="34" charset="-122"/>
                <a:cs typeface="Arial" pitchFamily="34" charset="-120"/>
              </a:rPr>
              <a:t>-0.1 percentage points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02920"/>
            <a:ext cx="10972800" cy="914400"/>
          </a:xfrm>
          <a:prstGeom prst="rect">
            <a:avLst/>
          </a:prstGeom>
          <a:noFill/>
          <a:ln/>
        </p:spPr>
        <p:txBody>
          <a:bodyPr wrap="square" lIns="0" tIns="0" rIns="0" bIns="0" rtlCol="0" anchor="t">
            <a:normAutofit/>
          </a:bodyPr>
          <a:lstStyle/>
          <a:p>
            <a:pPr indent="0" marL="0">
              <a:buNone/>
            </a:pPr>
            <a:r>
              <a:rPr lang="en-US" sz="3400" b="1" dirty="0">
                <a:solidFill>
                  <a:srgbClr val="18213D"/>
                </a:solidFill>
                <a:latin typeface="Arial" pitchFamily="34" charset="0"/>
                <a:ea typeface="Arial" pitchFamily="34" charset="-122"/>
                <a:cs typeface="Arial" pitchFamily="34" charset="-120"/>
              </a:rPr>
              <a:t>Changes in platform performance</a:t>
            </a:r>
            <a:endParaRPr lang="en-US" sz="3400" dirty="0"/>
          </a:p>
        </p:txBody>
      </p:sp>
      <p:sp>
        <p:nvSpPr>
          <p:cNvPr id="3" name="Text 1"/>
          <p:cNvSpPr/>
          <p:nvPr/>
        </p:nvSpPr>
        <p:spPr>
          <a:xfrm>
            <a:off x="594360" y="1508760"/>
            <a:ext cx="10972800" cy="64008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Each chart uses its own units. Missing values stay missing.</a:t>
            </a:r>
            <a:endParaRPr lang="en-US" sz="1700" dirty="0"/>
          </a:p>
        </p:txBody>
      </p:sp>
      <p:sp>
        <p:nvSpPr>
          <p:cNvPr id="4" name="Text 2"/>
          <p:cNvSpPr/>
          <p:nvPr/>
        </p:nvSpPr>
        <p:spPr>
          <a:xfrm>
            <a:off x="594360" y="6446520"/>
            <a:ext cx="103327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NIG / MEP · Internal preparation · 2026-09-28</a:t>
            </a:r>
            <a:endParaRPr lang="en-US" sz="1000" dirty="0"/>
          </a:p>
        </p:txBody>
      </p:sp>
      <p:sp>
        <p:nvSpPr>
          <p:cNvPr id="5" name="Text 3"/>
          <p:cNvSpPr/>
          <p:nvPr/>
        </p:nvSpPr>
        <p:spPr>
          <a:xfrm>
            <a:off x="11064240" y="6446520"/>
            <a:ext cx="5029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03</a:t>
            </a:r>
            <a:endParaRPr lang="en-US" sz="1000" dirty="0"/>
          </a:p>
        </p:txBody>
      </p:sp>
      <p:sp>
        <p:nvSpPr>
          <p:cNvPr id="6" name="Text 4"/>
          <p:cNvSpPr/>
          <p:nvPr/>
        </p:nvSpPr>
        <p:spPr>
          <a:xfrm>
            <a:off x="594360" y="2286000"/>
            <a:ext cx="5029200" cy="411480"/>
          </a:xfrm>
          <a:prstGeom prst="rect">
            <a:avLst/>
          </a:prstGeom>
          <a:noFill/>
          <a:ln/>
        </p:spPr>
        <p:txBody>
          <a:bodyPr wrap="square" lIns="0" tIns="0" rIns="0" bIns="0" rtlCol="0" anchor="t">
            <a:normAutofit/>
          </a:bodyPr>
          <a:lstStyle/>
          <a:p>
            <a:pPr indent="0" marL="0">
              <a:buNone/>
            </a:pPr>
            <a:r>
              <a:rPr lang="en-US" sz="2300" b="1" dirty="0">
                <a:solidFill>
                  <a:srgbClr val="7962D7"/>
                </a:solidFill>
                <a:latin typeface="Arial" pitchFamily="34" charset="0"/>
                <a:ea typeface="Arial" pitchFamily="34" charset="-122"/>
                <a:cs typeface="Arial" pitchFamily="34" charset="-120"/>
              </a:rPr>
              <a:t>Weekly active users</a:t>
            </a:r>
            <a:endParaRPr lang="en-US" sz="2300" dirty="0"/>
          </a:p>
        </p:txBody>
      </p:sp>
      <p:graphicFrame>
        <p:nvGraphicFramePr>
          <p:cNvPr id="7" name="Chart 0" descr=""/>
          <p:cNvGraphicFramePr/>
          <p:nvPr/>
        </p:nvGraphicFramePr>
        <p:xfrm>
          <a:off x="594360" y="2834640"/>
          <a:ext cx="5029200" cy="2697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94360" y="5760720"/>
            <a:ext cx="5029200" cy="45720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users · +20% vs previous week</a:t>
            </a:r>
            <a:endParaRPr lang="en-US" sz="1700" dirty="0"/>
          </a:p>
        </p:txBody>
      </p:sp>
      <p:sp>
        <p:nvSpPr>
          <p:cNvPr id="9" name="Text 6"/>
          <p:cNvSpPr/>
          <p:nvPr/>
        </p:nvSpPr>
        <p:spPr>
          <a:xfrm>
            <a:off x="6172200" y="2286000"/>
            <a:ext cx="5029200" cy="411480"/>
          </a:xfrm>
          <a:prstGeom prst="rect">
            <a:avLst/>
          </a:prstGeom>
          <a:noFill/>
          <a:ln/>
        </p:spPr>
        <p:txBody>
          <a:bodyPr wrap="square" lIns="0" tIns="0" rIns="0" bIns="0" rtlCol="0" anchor="t">
            <a:normAutofit/>
          </a:bodyPr>
          <a:lstStyle/>
          <a:p>
            <a:pPr indent="0" marL="0">
              <a:buNone/>
            </a:pPr>
            <a:r>
              <a:rPr lang="en-US" sz="2300" b="1" dirty="0">
                <a:solidFill>
                  <a:srgbClr val="079C93"/>
                </a:solidFill>
                <a:latin typeface="Arial" pitchFamily="34" charset="0"/>
                <a:ea typeface="Arial" pitchFamily="34" charset="-122"/>
                <a:cs typeface="Arial" pitchFamily="34" charset="-120"/>
              </a:rPr>
              <a:t>Platform availability</a:t>
            </a:r>
            <a:endParaRPr lang="en-US" sz="2300" dirty="0"/>
          </a:p>
        </p:txBody>
      </p:sp>
      <p:graphicFrame>
        <p:nvGraphicFramePr>
          <p:cNvPr id="10" name="Chart 1" descr=""/>
          <p:cNvGraphicFramePr/>
          <p:nvPr/>
        </p:nvGraphicFramePr>
        <p:xfrm>
          <a:off x="6172200" y="2834640"/>
          <a:ext cx="5029200" cy="269748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172200" y="5760720"/>
            <a:ext cx="5029200" cy="45720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 · +0.1 percentage points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02920"/>
            <a:ext cx="10972800" cy="914400"/>
          </a:xfrm>
          <a:prstGeom prst="rect">
            <a:avLst/>
          </a:prstGeom>
          <a:noFill/>
          <a:ln/>
        </p:spPr>
        <p:txBody>
          <a:bodyPr wrap="square" lIns="0" tIns="0" rIns="0" bIns="0" rtlCol="0" anchor="t">
            <a:normAutofit/>
          </a:bodyPr>
          <a:lstStyle/>
          <a:p>
            <a:pPr indent="0" marL="0">
              <a:buNone/>
            </a:pPr>
            <a:r>
              <a:rPr lang="en-US" sz="3400" b="1" dirty="0">
                <a:solidFill>
                  <a:srgbClr val="18213D"/>
                </a:solidFill>
                <a:latin typeface="Arial" pitchFamily="34" charset="0"/>
                <a:ea typeface="Arial" pitchFamily="34" charset="-122"/>
                <a:cs typeface="Arial" pitchFamily="34" charset="-120"/>
              </a:rPr>
              <a:t>Changes in platform performance</a:t>
            </a:r>
            <a:endParaRPr lang="en-US" sz="3400" dirty="0"/>
          </a:p>
        </p:txBody>
      </p:sp>
      <p:sp>
        <p:nvSpPr>
          <p:cNvPr id="3" name="Text 1"/>
          <p:cNvSpPr/>
          <p:nvPr/>
        </p:nvSpPr>
        <p:spPr>
          <a:xfrm>
            <a:off x="594360" y="1508760"/>
            <a:ext cx="10972800" cy="64008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Each chart uses its own units. Missing values stay missing.</a:t>
            </a:r>
            <a:endParaRPr lang="en-US" sz="1700" dirty="0"/>
          </a:p>
        </p:txBody>
      </p:sp>
      <p:sp>
        <p:nvSpPr>
          <p:cNvPr id="4" name="Text 2"/>
          <p:cNvSpPr/>
          <p:nvPr/>
        </p:nvSpPr>
        <p:spPr>
          <a:xfrm>
            <a:off x="594360" y="6446520"/>
            <a:ext cx="103327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NIG / MEP · Internal preparation · 2026-09-28</a:t>
            </a:r>
            <a:endParaRPr lang="en-US" sz="1000" dirty="0"/>
          </a:p>
        </p:txBody>
      </p:sp>
      <p:sp>
        <p:nvSpPr>
          <p:cNvPr id="5" name="Text 3"/>
          <p:cNvSpPr/>
          <p:nvPr/>
        </p:nvSpPr>
        <p:spPr>
          <a:xfrm>
            <a:off x="11064240" y="6446520"/>
            <a:ext cx="5029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04</a:t>
            </a:r>
            <a:endParaRPr lang="en-US" sz="1000" dirty="0"/>
          </a:p>
        </p:txBody>
      </p:sp>
      <p:sp>
        <p:nvSpPr>
          <p:cNvPr id="6" name="Text 4"/>
          <p:cNvSpPr/>
          <p:nvPr/>
        </p:nvSpPr>
        <p:spPr>
          <a:xfrm>
            <a:off x="594360" y="2286000"/>
            <a:ext cx="5029200" cy="411480"/>
          </a:xfrm>
          <a:prstGeom prst="rect">
            <a:avLst/>
          </a:prstGeom>
          <a:noFill/>
          <a:ln/>
        </p:spPr>
        <p:txBody>
          <a:bodyPr wrap="square" lIns="0" tIns="0" rIns="0" bIns="0" rtlCol="0" anchor="t">
            <a:normAutofit/>
          </a:bodyPr>
          <a:lstStyle/>
          <a:p>
            <a:pPr indent="0" marL="0">
              <a:buNone/>
            </a:pPr>
            <a:r>
              <a:rPr lang="en-US" sz="2300" b="1" dirty="0">
                <a:solidFill>
                  <a:srgbClr val="D27928"/>
                </a:solidFill>
                <a:latin typeface="Arial" pitchFamily="34" charset="0"/>
                <a:ea typeface="Arial" pitchFamily="34" charset="-122"/>
                <a:cs typeface="Arial" pitchFamily="34" charset="-120"/>
              </a:rPr>
              <a:t>Analytics delay</a:t>
            </a:r>
            <a:endParaRPr lang="en-US" sz="2300" dirty="0"/>
          </a:p>
        </p:txBody>
      </p:sp>
      <p:graphicFrame>
        <p:nvGraphicFramePr>
          <p:cNvPr id="7" name="Chart 0" descr=""/>
          <p:cNvGraphicFramePr/>
          <p:nvPr/>
        </p:nvGraphicFramePr>
        <p:xfrm>
          <a:off x="594360" y="2834640"/>
          <a:ext cx="5029200" cy="2697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94360" y="5760720"/>
            <a:ext cx="5029200" cy="45720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hours · +12 hours</a:t>
            </a:r>
            <a:endParaRPr lang="en-US" sz="1700" dirty="0"/>
          </a:p>
        </p:txBody>
      </p:sp>
      <p:sp>
        <p:nvSpPr>
          <p:cNvPr id="9" name="Text 6"/>
          <p:cNvSpPr/>
          <p:nvPr/>
        </p:nvSpPr>
        <p:spPr>
          <a:xfrm>
            <a:off x="6172200" y="2286000"/>
            <a:ext cx="5029200" cy="411480"/>
          </a:xfrm>
          <a:prstGeom prst="rect">
            <a:avLst/>
          </a:prstGeom>
          <a:noFill/>
          <a:ln/>
        </p:spPr>
        <p:txBody>
          <a:bodyPr wrap="square" lIns="0" tIns="0" rIns="0" bIns="0" rtlCol="0" anchor="t">
            <a:normAutofit/>
          </a:bodyPr>
          <a:lstStyle/>
          <a:p>
            <a:pPr indent="0" marL="0">
              <a:buNone/>
            </a:pPr>
            <a:r>
              <a:rPr lang="en-US" sz="2300" b="1" dirty="0">
                <a:solidFill>
                  <a:srgbClr val="3676DB"/>
                </a:solidFill>
                <a:latin typeface="Arial" pitchFamily="34" charset="0"/>
                <a:ea typeface="Arial" pitchFamily="34" charset="-122"/>
                <a:cs typeface="Arial" pitchFamily="34" charset="-120"/>
              </a:rPr>
              <a:t>API error rate</a:t>
            </a:r>
            <a:endParaRPr lang="en-US" sz="2300" dirty="0"/>
          </a:p>
        </p:txBody>
      </p:sp>
      <p:graphicFrame>
        <p:nvGraphicFramePr>
          <p:cNvPr id="10" name="Chart 1" descr=""/>
          <p:cNvGraphicFramePr/>
          <p:nvPr/>
        </p:nvGraphicFramePr>
        <p:xfrm>
          <a:off x="6172200" y="2834640"/>
          <a:ext cx="5029200" cy="269748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172200" y="5760720"/>
            <a:ext cx="5029200" cy="45720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 · -0.1 percentage points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02920"/>
            <a:ext cx="10972800" cy="914400"/>
          </a:xfrm>
          <a:prstGeom prst="rect">
            <a:avLst/>
          </a:prstGeom>
          <a:noFill/>
          <a:ln/>
        </p:spPr>
        <p:txBody>
          <a:bodyPr wrap="square" lIns="0" tIns="0" rIns="0" bIns="0" rtlCol="0" anchor="t">
            <a:normAutofit/>
          </a:bodyPr>
          <a:lstStyle/>
          <a:p>
            <a:pPr indent="0" marL="0">
              <a:buNone/>
            </a:pPr>
            <a:r>
              <a:rPr lang="en-US" sz="3400" b="1" dirty="0">
                <a:solidFill>
                  <a:srgbClr val="18213D"/>
                </a:solidFill>
                <a:latin typeface="Arial" pitchFamily="34" charset="0"/>
                <a:ea typeface="Arial" pitchFamily="34" charset="-122"/>
                <a:cs typeface="Arial" pitchFamily="34" charset="-120"/>
              </a:rPr>
              <a:t>Figures for the meeting</a:t>
            </a:r>
            <a:endParaRPr lang="en-US" sz="3400" dirty="0"/>
          </a:p>
        </p:txBody>
      </p:sp>
      <p:sp>
        <p:nvSpPr>
          <p:cNvPr id="3" name="Text 1"/>
          <p:cNvSpPr/>
          <p:nvPr/>
        </p:nvSpPr>
        <p:spPr>
          <a:xfrm>
            <a:off x="594360" y="1508760"/>
            <a:ext cx="10972800" cy="64008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Cohort: MEP beta matched cohort</a:t>
            </a:r>
            <a:endParaRPr lang="en-US" sz="1700" dirty="0"/>
          </a:p>
        </p:txBody>
      </p:sp>
      <p:sp>
        <p:nvSpPr>
          <p:cNvPr id="4" name="Text 2"/>
          <p:cNvSpPr/>
          <p:nvPr/>
        </p:nvSpPr>
        <p:spPr>
          <a:xfrm>
            <a:off x="594360" y="6446520"/>
            <a:ext cx="103327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NIG / MEP · Internal preparation · 2026-09-28</a:t>
            </a:r>
            <a:endParaRPr lang="en-US" sz="1000" dirty="0"/>
          </a:p>
        </p:txBody>
      </p:sp>
      <p:sp>
        <p:nvSpPr>
          <p:cNvPr id="5" name="Text 3"/>
          <p:cNvSpPr/>
          <p:nvPr/>
        </p:nvSpPr>
        <p:spPr>
          <a:xfrm>
            <a:off x="11064240" y="6446520"/>
            <a:ext cx="5029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05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2286000"/>
          <a:ext cx="10972800" cy="914400"/>
        </p:xfrm>
        <a:graphic>
          <a:graphicData uri="http://schemas.openxmlformats.org/drawingml/2006/table">
            <a:tbl>
              <a:tblPr/>
              <a:tblGrid>
                <a:gridCol w="3474720"/>
                <a:gridCol w="1828800"/>
                <a:gridCol w="1828800"/>
                <a:gridCol w="3840480"/>
              </a:tblGrid>
              <a:tr h="658368">
                <a:tc>
                  <a:txBody>
                    <a:bodyPr/>
                    <a:lstStyle/>
                    <a:p>
                      <a:pPr indent="0" marL="0">
                        <a:buNone/>
                      </a:pPr>
                      <a:r>
                        <a:rPr lang="en-US" sz="1700" b="1" dirty="0">
                          <a:solidFill>
                            <a:srgbClr val="FFFFFF"/>
                          </a:solidFill>
                          <a:latin typeface="Arial" pitchFamily="34" charset="0"/>
                          <a:ea typeface="Arial" pitchFamily="34" charset="-122"/>
                          <a:cs typeface="Arial" pitchFamily="34" charset="-120"/>
                        </a:rPr>
                        <a:t>Metric</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0F1743"/>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Previous</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0F1743"/>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Current</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0F1743"/>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Change</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0F1743"/>
                    </a:solidFill>
                  </a:tcPr>
                </a:tc>
              </a:tr>
              <a:tr h="658368">
                <a:tc>
                  <a:txBody>
                    <a:bodyPr/>
                    <a:lstStyle/>
                    <a:p>
                      <a:pPr indent="0" marL="0">
                        <a:buNone/>
                      </a:pPr>
                      <a:r>
                        <a:rPr lang="en-US" sz="1700" dirty="0">
                          <a:solidFill>
                            <a:srgbClr val="18213D"/>
                          </a:solidFill>
                          <a:latin typeface="Arial" pitchFamily="34" charset="0"/>
                          <a:ea typeface="Arial" pitchFamily="34" charset="-122"/>
                          <a:cs typeface="Arial" pitchFamily="34" charset="-120"/>
                        </a:rPr>
                        <a:t>Weekly active users (users)</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1,000</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1,200</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+20% vs previous week</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r>
              <a:tr h="658368">
                <a:tc>
                  <a:txBody>
                    <a:bodyPr/>
                    <a:lstStyle/>
                    <a:p>
                      <a:pPr indent="0" marL="0">
                        <a:buNone/>
                      </a:pPr>
                      <a:r>
                        <a:rPr lang="en-US" sz="1700" dirty="0">
                          <a:solidFill>
                            <a:srgbClr val="18213D"/>
                          </a:solidFill>
                          <a:latin typeface="Arial" pitchFamily="34" charset="0"/>
                          <a:ea typeface="Arial" pitchFamily="34" charset="-122"/>
                          <a:cs typeface="Arial" pitchFamily="34" charset="-120"/>
                        </a:rPr>
                        <a:t>Platform availability (%)</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FFFFF"/>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99.8</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FFFFF"/>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99.9</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FFFFF"/>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+0.1 percentage points</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FFFFF"/>
                    </a:solidFill>
                  </a:tcPr>
                </a:tc>
              </a:tr>
              <a:tr h="658368">
                <a:tc>
                  <a:txBody>
                    <a:bodyPr/>
                    <a:lstStyle/>
                    <a:p>
                      <a:pPr indent="0" marL="0">
                        <a:buNone/>
                      </a:pPr>
                      <a:r>
                        <a:rPr lang="en-US" sz="1700" dirty="0">
                          <a:solidFill>
                            <a:srgbClr val="18213D"/>
                          </a:solidFill>
                          <a:latin typeface="Arial" pitchFamily="34" charset="0"/>
                          <a:ea typeface="Arial" pitchFamily="34" charset="-122"/>
                          <a:cs typeface="Arial" pitchFamily="34" charset="-120"/>
                        </a:rPr>
                        <a:t>Analytics delay (hours)</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24</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36</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+12 hours</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r>
              <a:tr h="658368">
                <a:tc>
                  <a:txBody>
                    <a:bodyPr/>
                    <a:lstStyle/>
                    <a:p>
                      <a:pPr indent="0" marL="0">
                        <a:buNone/>
                      </a:pPr>
                      <a:r>
                        <a:rPr lang="en-US" sz="1700" dirty="0">
                          <a:solidFill>
                            <a:srgbClr val="18213D"/>
                          </a:solidFill>
                          <a:latin typeface="Arial" pitchFamily="34" charset="0"/>
                          <a:ea typeface="Arial" pitchFamily="34" charset="-122"/>
                          <a:cs typeface="Arial" pitchFamily="34" charset="-120"/>
                        </a:rPr>
                        <a:t>API error rate (%)</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FFFFF"/>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0.4</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FFFFF"/>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0.3</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FFFFF"/>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-0.1 percentage points</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02920"/>
            <a:ext cx="10972800" cy="914400"/>
          </a:xfrm>
          <a:prstGeom prst="rect">
            <a:avLst/>
          </a:prstGeom>
          <a:noFill/>
          <a:ln/>
        </p:spPr>
        <p:txBody>
          <a:bodyPr wrap="square" lIns="0" tIns="0" rIns="0" bIns="0" rtlCol="0" anchor="t">
            <a:normAutofit/>
          </a:bodyPr>
          <a:lstStyle/>
          <a:p>
            <a:pPr indent="0" marL="0">
              <a:buNone/>
            </a:pPr>
            <a:r>
              <a:rPr lang="en-US" sz="3400" b="1" dirty="0">
                <a:solidFill>
                  <a:srgbClr val="18213D"/>
                </a:solidFill>
                <a:latin typeface="Arial" pitchFamily="34" charset="0"/>
                <a:ea typeface="Arial" pitchFamily="34" charset="-122"/>
                <a:cs typeface="Arial" pitchFamily="34" charset="-120"/>
              </a:rPr>
              <a:t>What remains uncertain</a:t>
            </a:r>
            <a:endParaRPr lang="en-US" sz="3400" dirty="0"/>
          </a:p>
        </p:txBody>
      </p:sp>
      <p:sp>
        <p:nvSpPr>
          <p:cNvPr id="3" name="Text 1"/>
          <p:cNvSpPr/>
          <p:nvPr/>
        </p:nvSpPr>
        <p:spPr>
          <a:xfrm>
            <a:off x="594360" y="1508760"/>
            <a:ext cx="10972800" cy="640080"/>
          </a:xfrm>
          <a:prstGeom prst="rect">
            <a:avLst/>
          </a:prstGeom>
          <a:noFill/>
          <a:ln/>
        </p:spPr>
        <p:txBody>
          <a:bodyPr wrap="square" lIns="0" tIns="0" rIns="0" bIns="0" rtlCol="0" anchor="t">
            <a:normAutofit/>
          </a:bodyPr>
          <a:lstStyle/>
          <a:p>
            <a:pPr indent="0" marL="0">
              <a:buNone/>
            </a:pPr>
            <a:r>
              <a:rPr lang="en-US" sz="1700" dirty="0">
                <a:solidFill>
                  <a:srgbClr val="59647C"/>
                </a:solidFill>
                <a:latin typeface="Arial" pitchFamily="34" charset="0"/>
                <a:ea typeface="Arial" pitchFamily="34" charset="-122"/>
                <a:cs typeface="Arial" pitchFamily="34" charset="-120"/>
              </a:rPr>
              <a:t>Keep these limitations visible when interpreting the report.</a:t>
            </a:r>
            <a:endParaRPr lang="en-US" sz="1700" dirty="0"/>
          </a:p>
        </p:txBody>
      </p:sp>
      <p:sp>
        <p:nvSpPr>
          <p:cNvPr id="4" name="Text 2"/>
          <p:cNvSpPr/>
          <p:nvPr/>
        </p:nvSpPr>
        <p:spPr>
          <a:xfrm>
            <a:off x="594360" y="6446520"/>
            <a:ext cx="103327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NIG / MEP · Internal preparation · 2026-09-28</a:t>
            </a:r>
            <a:endParaRPr lang="en-US" sz="1000" dirty="0"/>
          </a:p>
        </p:txBody>
      </p:sp>
      <p:sp>
        <p:nvSpPr>
          <p:cNvPr id="5" name="Text 3"/>
          <p:cNvSpPr/>
          <p:nvPr/>
        </p:nvSpPr>
        <p:spPr>
          <a:xfrm>
            <a:off x="11064240" y="6446520"/>
            <a:ext cx="502920" cy="210312"/>
          </a:xfrm>
          <a:prstGeom prst="rect">
            <a:avLst/>
          </a:prstGeom>
          <a:noFill/>
          <a:ln/>
        </p:spPr>
        <p:txBody>
          <a:bodyPr wrap="square" lIns="0" tIns="0" rIns="0" bIns="0" rtlCol="0" anchor="t">
            <a:normAutofit/>
          </a:bodyPr>
          <a:lstStyle/>
          <a:p>
            <a:pPr indent="0" marL="0">
              <a:buNone/>
            </a:pPr>
            <a:r>
              <a:rPr lang="en-US" sz="1000" dirty="0">
                <a:solidFill>
                  <a:srgbClr val="59647C"/>
                </a:solidFill>
                <a:latin typeface="Arial" pitchFamily="34" charset="0"/>
                <a:ea typeface="Arial" pitchFamily="34" charset="-122"/>
                <a:cs typeface="Arial"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2286000"/>
          <a:ext cx="10972800" cy="914400"/>
        </p:xfrm>
        <a:graphic>
          <a:graphicData uri="http://schemas.openxmlformats.org/drawingml/2006/table">
            <a:tbl>
              <a:tblPr/>
              <a:tblGrid>
                <a:gridCol w="1737360"/>
                <a:gridCol w="9235440"/>
              </a:tblGrid>
              <a:tr h="658368">
                <a:tc>
                  <a:txBody>
                    <a:bodyPr/>
                    <a:lstStyle/>
                    <a:p>
                      <a:pPr indent="0" marL="0">
                        <a:buNone/>
                      </a:pPr>
                      <a:r>
                        <a:rPr lang="en-US" sz="1700" b="1" dirty="0">
                          <a:solidFill>
                            <a:srgbClr val="FFFFFF"/>
                          </a:solidFill>
                          <a:latin typeface="Arial" pitchFamily="34" charset="0"/>
                          <a:ea typeface="Arial" pitchFamily="34" charset="-122"/>
                          <a:cs typeface="Arial" pitchFamily="34" charset="-120"/>
                        </a:rPr>
                        <a:t>Type</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0F1743"/>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Review note</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0F1743"/>
                    </a:solidFill>
                  </a:tcPr>
                </a:tc>
              </a:tr>
              <a:tr h="658368">
                <a:tc>
                  <a:txBody>
                    <a:bodyPr/>
                    <a:lstStyle/>
                    <a:p>
                      <a:pPr indent="0" marL="0">
                        <a:buNone/>
                      </a:pPr>
                      <a:r>
                        <a:rPr lang="en-US" sz="1700" dirty="0">
                          <a:solidFill>
                            <a:srgbClr val="18213D"/>
                          </a:solidFill>
                          <a:latin typeface="Arial" pitchFamily="34" charset="0"/>
                          <a:ea typeface="Arial" pitchFamily="34" charset="-122"/>
                          <a:cs typeface="Arial" pitchFamily="34" charset="-120"/>
                        </a:rPr>
                        <a:t>Data gap</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c>
                  <a:txBody>
                    <a:bodyPr/>
                    <a:lstStyle/>
                    <a:p>
                      <a:pPr indent="0" marL="0">
                        <a:buNone/>
                      </a:pPr>
                      <a:r>
                        <a:rPr lang="en-US" sz="1700" dirty="0">
                          <a:solidFill>
                            <a:srgbClr val="18213D"/>
                          </a:solidFill>
                          <a:latin typeface="Arial" pitchFamily="34" charset="0"/>
                          <a:ea typeface="Arial" pitchFamily="34" charset="-122"/>
                          <a:cs typeface="Arial" pitchFamily="34" charset="-120"/>
                        </a:rPr>
                        <a:t>No meeting material supplied. This report contains calculated figures only; reasons and commitments are unknown.</a:t>
                      </a:r>
                      <a:endParaRPr lang="en-US" sz="1700" dirty="0">
                        <a:latin typeface="Arial" charset="0"/>
                        <a:ea typeface="Arial" charset="0"/>
                        <a:cs typeface="Arial" charset="0"/>
                      </a:endParaRPr>
                    </a:p>
                  </a:txBody>
                  <a:tcPr marL="127000" marR="127000" marT="127000" marB="127000" anchor="t">
                    <a:lnL w="6350" cap="flat" cmpd="sng" algn="ctr">
                      <a:solidFill>
                        <a:srgbClr val="DFE4ED"/>
                      </a:solidFill>
                      <a:prstDash val="solid"/>
                      <a:round/>
                      <a:headEnd type="none" w="med" len="med"/>
                      <a:tailEnd type="none" w="med" len="med"/>
                    </a:lnL>
                    <a:lnR w="6350" cap="flat" cmpd="sng" algn="ctr">
                      <a:solidFill>
                        <a:srgbClr val="DFE4ED"/>
                      </a:solidFill>
                      <a:prstDash val="solid"/>
                      <a:round/>
                      <a:headEnd type="none" w="med" len="med"/>
                      <a:tailEnd type="none" w="med" len="med"/>
                    </a:lnR>
                    <a:lnT w="6350" cap="flat" cmpd="sng" algn="ctr">
                      <a:solidFill>
                        <a:srgbClr val="DFE4ED"/>
                      </a:solidFill>
                      <a:prstDash val="solid"/>
                      <a:round/>
                      <a:headEnd type="none" w="med" len="med"/>
                      <a:tailEnd type="none" w="med" len="med"/>
                    </a:lnT>
                    <a:lnB w="6350" cap="flat" cmpd="sng" algn="ctr">
                      <a:solidFill>
                        <a:srgbClr val="DFE4ED"/>
                      </a:solidFill>
                      <a:prstDash val="solid"/>
                      <a:round/>
                      <a:headEnd type="none" w="med" len="med"/>
                      <a:tailEnd type="none" w="med" len="med"/>
                    </a:lnB>
                    <a:solidFill>
                      <a:srgbClr val="F3F5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Engineering review</dc:title>
  <dc:subject>Synthetic MEP reporting prototype</dc:subject>
  <dc:creator>NIG case study</dc:creator>
  <cp:lastModifiedBy>NIG case study</cp:lastModifiedBy>
  <cp:revision>1</cp:revision>
  <dcterms:created xsi:type="dcterms:W3CDTF">2026-10-10T16:07:06Z</dcterms:created>
  <dcterms:modified xsi:type="dcterms:W3CDTF">2026-10-10T16:07:06Z</dcterms:modified>
</cp:coreProperties>
</file>